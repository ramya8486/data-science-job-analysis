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6" r:id="rId2"/>
    <p:sldId id="257" r:id="rId3"/>
    <p:sldId id="258" r:id="rId4"/>
    <p:sldId id="259" r:id="rId5"/>
    <p:sldId id="271" r:id="rId6"/>
    <p:sldId id="260" r:id="rId7"/>
    <p:sldId id="264" r:id="rId8"/>
    <p:sldId id="265" r:id="rId9"/>
    <p:sldId id="262" r:id="rId10"/>
    <p:sldId id="263"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6" d="100"/>
          <a:sy n="66" d="100"/>
        </p:scale>
        <p:origin x="90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smtClean="0"/>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5/15/2025</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95268" y="1122362"/>
            <a:ext cx="8709875" cy="1432152"/>
          </a:xfrm>
        </p:spPr>
        <p:txBody>
          <a:bodyPr/>
          <a:lstStyle/>
          <a:p>
            <a:r>
              <a:rPr lang="en-US" cap="none" dirty="0" smtClean="0">
                <a:ln w="9525">
                  <a:solidFill>
                    <a:schemeClr val="bg1"/>
                  </a:solidFill>
                  <a:prstDash val="solid"/>
                </a:ln>
                <a:effectLst>
                  <a:outerShdw blurRad="12700" dist="38100" dir="2700000" algn="tl" rotWithShape="0">
                    <a:schemeClr val="bg1">
                      <a:lumMod val="50000"/>
                    </a:schemeClr>
                  </a:outerShdw>
                </a:effectLst>
              </a:rPr>
              <a:t>Data_Science JOB_Salaries_Comparison</a:t>
            </a:r>
            <a:endParaRPr lang="en-IN" cap="none" dirty="0">
              <a:ln w="9525">
                <a:solidFill>
                  <a:schemeClr val="bg1"/>
                </a:solidFill>
                <a:prstDash val="solid"/>
              </a:ln>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525448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Overview</a:t>
            </a:r>
            <a:endParaRPr lang="en-IN" dirty="0"/>
          </a:p>
        </p:txBody>
      </p:sp>
      <p:sp>
        <p:nvSpPr>
          <p:cNvPr id="3" name="Content Placeholder 2"/>
          <p:cNvSpPr>
            <a:spLocks noGrp="1"/>
          </p:cNvSpPr>
          <p:nvPr>
            <p:ph idx="1"/>
          </p:nvPr>
        </p:nvSpPr>
        <p:spPr/>
        <p:txBody>
          <a:bodyPr>
            <a:normAutofit fontScale="92500" lnSpcReduction="20000"/>
          </a:bodyPr>
          <a:lstStyle/>
          <a:p>
            <a:r>
              <a:rPr lang="en-US" dirty="0"/>
              <a:t>In today’s data-driven economy, the demand for data science professionals is rising rapidly across industries. However, salaries for data science roles vary widely depending on factors such as location, experience, skills, and industry sector. Understanding these variations can help job seekers, employers, and educational institutions make more informed decisions. This project aims to analyze data science job salary trends using Python.</a:t>
            </a:r>
            <a:endParaRPr lang="en-US" dirty="0" smtClean="0"/>
          </a:p>
          <a:p>
            <a:r>
              <a:rPr lang="en-US" dirty="0"/>
              <a:t>Python serves as the primary tool for this analysis due to its robust ecosystem of data science libraries. We use </a:t>
            </a:r>
            <a:r>
              <a:rPr lang="en-US" b="1" dirty="0"/>
              <a:t>pandas</a:t>
            </a:r>
            <a:r>
              <a:rPr lang="en-US" dirty="0"/>
              <a:t> for data manipulation, </a:t>
            </a:r>
            <a:r>
              <a:rPr lang="en-US" b="1" dirty="0"/>
              <a:t>matplotlib</a:t>
            </a:r>
            <a:r>
              <a:rPr lang="en-US" dirty="0"/>
              <a:t> and </a:t>
            </a:r>
            <a:r>
              <a:rPr lang="en-US" b="1" dirty="0"/>
              <a:t>seaborn</a:t>
            </a:r>
            <a:r>
              <a:rPr lang="en-US" dirty="0"/>
              <a:t> for visualizations, and </a:t>
            </a:r>
            <a:r>
              <a:rPr lang="en-US" b="1" dirty="0"/>
              <a:t>scikit-learn</a:t>
            </a:r>
            <a:r>
              <a:rPr lang="en-US" dirty="0"/>
              <a:t> for optional predictive modeling. The project includes steps like data cleaning, exploratory data analysis (EDA), and visual storytelling to uncover key insights and salary patterns in the data science field.</a:t>
            </a:r>
            <a:endParaRPr lang="en-IN" dirty="0"/>
          </a:p>
        </p:txBody>
      </p:sp>
    </p:spTree>
    <p:extLst>
      <p:ext uri="{BB962C8B-B14F-4D97-AF65-F5344CB8AC3E}">
        <p14:creationId xmlns:p14="http://schemas.microsoft.com/office/powerpoint/2010/main" val="1636656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t>Data </a:t>
            </a:r>
            <a:r>
              <a:rPr lang="en-US" cap="none" dirty="0" smtClean="0"/>
              <a:t>Exploration</a:t>
            </a:r>
            <a:endParaRPr lang="en-IN" cap="none" dirty="0"/>
          </a:p>
        </p:txBody>
      </p:sp>
      <p:sp>
        <p:nvSpPr>
          <p:cNvPr id="3" name="Content Placeholder 2"/>
          <p:cNvSpPr>
            <a:spLocks noGrp="1"/>
          </p:cNvSpPr>
          <p:nvPr>
            <p:ph idx="1"/>
          </p:nvPr>
        </p:nvSpPr>
        <p:spPr>
          <a:xfrm>
            <a:off x="913795" y="2096064"/>
            <a:ext cx="10353762" cy="4527440"/>
          </a:xfrm>
        </p:spPr>
        <p:txBody>
          <a:bodyPr/>
          <a:lstStyle/>
          <a:p>
            <a:r>
              <a:rPr lang="en-US" dirty="0" smtClean="0"/>
              <a:t>Dataset contains 607 rows and 10 columns </a:t>
            </a:r>
          </a:p>
          <a:p>
            <a:endParaRPr lang="en-US" dirty="0" smtClean="0"/>
          </a:p>
          <a:p>
            <a:endParaRPr lang="en-US" dirty="0" smtClean="0"/>
          </a:p>
          <a:p>
            <a:endParaRPr lang="en-US" dirty="0" smtClean="0"/>
          </a:p>
          <a:p>
            <a:endParaRPr lang="en-IN" dirty="0"/>
          </a:p>
        </p:txBody>
      </p:sp>
      <p:pic>
        <p:nvPicPr>
          <p:cNvPr id="7" name="Picture 6"/>
          <p:cNvPicPr>
            <a:picLocks noChangeAspect="1"/>
          </p:cNvPicPr>
          <p:nvPr/>
        </p:nvPicPr>
        <p:blipFill>
          <a:blip r:embed="rId2"/>
          <a:stretch>
            <a:fillRect/>
          </a:stretch>
        </p:blipFill>
        <p:spPr>
          <a:xfrm>
            <a:off x="1030515" y="2594201"/>
            <a:ext cx="9831051" cy="2456770"/>
          </a:xfrm>
          <a:prstGeom prst="rect">
            <a:avLst/>
          </a:prstGeom>
        </p:spPr>
      </p:pic>
    </p:spTree>
    <p:extLst>
      <p:ext uri="{BB962C8B-B14F-4D97-AF65-F5344CB8AC3E}">
        <p14:creationId xmlns:p14="http://schemas.microsoft.com/office/powerpoint/2010/main" val="2616404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t>Data preprocessing</a:t>
            </a:r>
            <a:endParaRPr lang="en-IN" cap="none" dirty="0"/>
          </a:p>
        </p:txBody>
      </p:sp>
      <p:sp>
        <p:nvSpPr>
          <p:cNvPr id="3" name="Content Placeholder 2"/>
          <p:cNvSpPr>
            <a:spLocks noGrp="1"/>
          </p:cNvSpPr>
          <p:nvPr>
            <p:ph sz="half" idx="1"/>
          </p:nvPr>
        </p:nvSpPr>
        <p:spPr/>
        <p:txBody>
          <a:bodyPr/>
          <a:lstStyle/>
          <a:p>
            <a:r>
              <a:rPr lang="en-US" dirty="0" smtClean="0"/>
              <a:t>To check for duplicates</a:t>
            </a:r>
          </a:p>
          <a:p>
            <a:endParaRPr lang="en-US" dirty="0"/>
          </a:p>
          <a:p>
            <a:endParaRPr lang="en-US" dirty="0" smtClean="0"/>
          </a:p>
          <a:p>
            <a:endParaRPr lang="en-US" dirty="0"/>
          </a:p>
          <a:p>
            <a:r>
              <a:rPr lang="en-US" dirty="0" smtClean="0"/>
              <a:t>To check for Null values</a:t>
            </a:r>
            <a:endParaRPr lang="en-IN" dirty="0"/>
          </a:p>
        </p:txBody>
      </p:sp>
      <p:sp>
        <p:nvSpPr>
          <p:cNvPr id="4" name="Content Placeholder 3"/>
          <p:cNvSpPr>
            <a:spLocks noGrp="1"/>
          </p:cNvSpPr>
          <p:nvPr>
            <p:ph sz="half" idx="2"/>
          </p:nvPr>
        </p:nvSpPr>
        <p:spPr>
          <a:xfrm>
            <a:off x="6939714" y="2203469"/>
            <a:ext cx="4625226" cy="3035223"/>
          </a:xfrm>
        </p:spPr>
        <p:txBody>
          <a:bodyPr/>
          <a:lstStyle/>
          <a:p>
            <a:r>
              <a:rPr lang="en-US" dirty="0" smtClean="0"/>
              <a:t>Observation:</a:t>
            </a:r>
          </a:p>
          <a:p>
            <a:r>
              <a:rPr lang="en-US" dirty="0"/>
              <a:t> </a:t>
            </a:r>
            <a:r>
              <a:rPr lang="en-US" dirty="0" smtClean="0"/>
              <a:t>We do not find any duplicates in the dataset</a:t>
            </a:r>
          </a:p>
          <a:p>
            <a:r>
              <a:rPr lang="en-US" dirty="0" smtClean="0"/>
              <a:t>We do not observe any null values in the dataset.</a:t>
            </a:r>
          </a:p>
          <a:p>
            <a:r>
              <a:rPr lang="en-US" dirty="0" smtClean="0"/>
              <a:t>Let us start with Exploratory data analysis.</a:t>
            </a:r>
            <a:endParaRPr lang="en-US" dirty="0" smtClean="0"/>
          </a:p>
          <a:p>
            <a:pPr marL="0" indent="0">
              <a:buNone/>
            </a:pPr>
            <a:endParaRPr lang="en-IN" dirty="0"/>
          </a:p>
        </p:txBody>
      </p:sp>
      <p:pic>
        <p:nvPicPr>
          <p:cNvPr id="6" name="Picture 5"/>
          <p:cNvPicPr>
            <a:picLocks noChangeAspect="1"/>
          </p:cNvPicPr>
          <p:nvPr/>
        </p:nvPicPr>
        <p:blipFill>
          <a:blip r:embed="rId2"/>
          <a:stretch>
            <a:fillRect/>
          </a:stretch>
        </p:blipFill>
        <p:spPr>
          <a:xfrm>
            <a:off x="1107848" y="2629354"/>
            <a:ext cx="3754438" cy="939328"/>
          </a:xfrm>
          <a:prstGeom prst="rect">
            <a:avLst/>
          </a:prstGeom>
        </p:spPr>
      </p:pic>
      <p:pic>
        <p:nvPicPr>
          <p:cNvPr id="8" name="Picture 7"/>
          <p:cNvPicPr>
            <a:picLocks noChangeAspect="1"/>
          </p:cNvPicPr>
          <p:nvPr/>
        </p:nvPicPr>
        <p:blipFill>
          <a:blip r:embed="rId3"/>
          <a:stretch>
            <a:fillRect/>
          </a:stretch>
        </p:blipFill>
        <p:spPr>
          <a:xfrm>
            <a:off x="4146323" y="3721080"/>
            <a:ext cx="2762250" cy="2676525"/>
          </a:xfrm>
          <a:prstGeom prst="rect">
            <a:avLst/>
          </a:prstGeom>
        </p:spPr>
      </p:pic>
    </p:spTree>
    <p:extLst>
      <p:ext uri="{BB962C8B-B14F-4D97-AF65-F5344CB8AC3E}">
        <p14:creationId xmlns:p14="http://schemas.microsoft.com/office/powerpoint/2010/main" val="948237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Exploratory Data Analysis (EDA)</a:t>
            </a:r>
            <a:endParaRPr lang="en-IN" dirty="0"/>
          </a:p>
        </p:txBody>
      </p:sp>
      <p:pic>
        <p:nvPicPr>
          <p:cNvPr id="3074" name="Picture 2" descr="A Comprehensive Guide to Exploratory Data Analysis (EDA) in Machine"/>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1814979" y="1935921"/>
            <a:ext cx="8272450" cy="4174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6174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t>Count of employees by experience level</a:t>
            </a:r>
            <a:endParaRPr lang="en-IN" cap="none" dirty="0"/>
          </a:p>
        </p:txBody>
      </p:sp>
      <p:pic>
        <p:nvPicPr>
          <p:cNvPr id="5" name="Content Placeholder 4"/>
          <p:cNvPicPr>
            <a:picLocks noGrp="1" noChangeAspect="1"/>
          </p:cNvPicPr>
          <p:nvPr>
            <p:ph sz="half" idx="1"/>
          </p:nvPr>
        </p:nvPicPr>
        <p:blipFill>
          <a:blip r:embed="rId2"/>
          <a:stretch>
            <a:fillRect/>
          </a:stretch>
        </p:blipFill>
        <p:spPr>
          <a:xfrm>
            <a:off x="8955315" y="2941449"/>
            <a:ext cx="2763384" cy="1804722"/>
          </a:xfrm>
          <a:prstGeom prst="rect">
            <a:avLst/>
          </a:prstGeom>
        </p:spPr>
      </p:pic>
      <p:pic>
        <p:nvPicPr>
          <p:cNvPr id="6" name="Picture 5"/>
          <p:cNvPicPr>
            <a:picLocks noChangeAspect="1"/>
          </p:cNvPicPr>
          <p:nvPr/>
        </p:nvPicPr>
        <p:blipFill>
          <a:blip r:embed="rId3"/>
          <a:stretch>
            <a:fillRect/>
          </a:stretch>
        </p:blipFill>
        <p:spPr>
          <a:xfrm>
            <a:off x="1077685" y="1656216"/>
            <a:ext cx="7347723" cy="4367212"/>
          </a:xfrm>
          <a:prstGeom prst="rect">
            <a:avLst/>
          </a:prstGeom>
        </p:spPr>
      </p:pic>
    </p:spTree>
    <p:extLst>
      <p:ext uri="{BB962C8B-B14F-4D97-AF65-F5344CB8AC3E}">
        <p14:creationId xmlns:p14="http://schemas.microsoft.com/office/powerpoint/2010/main" val="1728998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6424" y="138752"/>
            <a:ext cx="10353761" cy="1326321"/>
          </a:xfrm>
        </p:spPr>
        <p:txBody>
          <a:bodyPr/>
          <a:lstStyle/>
          <a:p>
            <a:r>
              <a:rPr lang="en-US" cap="none" dirty="0" smtClean="0"/>
              <a:t>Top 10 Job titles</a:t>
            </a:r>
            <a:endParaRPr lang="en-IN" cap="none" dirty="0"/>
          </a:p>
        </p:txBody>
      </p:sp>
      <p:pic>
        <p:nvPicPr>
          <p:cNvPr id="5" name="Content Placeholder 4"/>
          <p:cNvPicPr>
            <a:picLocks noGrp="1" noChangeAspect="1"/>
          </p:cNvPicPr>
          <p:nvPr>
            <p:ph sz="half" idx="1"/>
          </p:nvPr>
        </p:nvPicPr>
        <p:blipFill>
          <a:blip r:embed="rId2"/>
          <a:stretch>
            <a:fillRect/>
          </a:stretch>
        </p:blipFill>
        <p:spPr>
          <a:xfrm>
            <a:off x="1824951" y="1652890"/>
            <a:ext cx="6970706" cy="3703637"/>
          </a:xfrm>
          <a:prstGeom prst="rect">
            <a:avLst/>
          </a:prstGeom>
        </p:spPr>
      </p:pic>
    </p:spTree>
    <p:extLst>
      <p:ext uri="{BB962C8B-B14F-4D97-AF65-F5344CB8AC3E}">
        <p14:creationId xmlns:p14="http://schemas.microsoft.com/office/powerpoint/2010/main" val="1568035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t>Distribution of salaries</a:t>
            </a:r>
            <a:endParaRPr lang="en-IN" cap="none" dirty="0"/>
          </a:p>
        </p:txBody>
      </p:sp>
      <p:pic>
        <p:nvPicPr>
          <p:cNvPr id="5" name="Content Placeholder 4"/>
          <p:cNvPicPr>
            <a:picLocks noGrp="1" noChangeAspect="1"/>
          </p:cNvPicPr>
          <p:nvPr>
            <p:ph sz="half" idx="1"/>
          </p:nvPr>
        </p:nvPicPr>
        <p:blipFill>
          <a:blip r:embed="rId2"/>
          <a:stretch>
            <a:fillRect/>
          </a:stretch>
        </p:blipFill>
        <p:spPr>
          <a:xfrm>
            <a:off x="994968" y="2087563"/>
            <a:ext cx="4944264" cy="3703637"/>
          </a:xfrm>
          <a:prstGeom prst="rect">
            <a:avLst/>
          </a:prstGeom>
        </p:spPr>
      </p:pic>
      <p:sp>
        <p:nvSpPr>
          <p:cNvPr id="4" name="Content Placeholder 3"/>
          <p:cNvSpPr>
            <a:spLocks noGrp="1"/>
          </p:cNvSpPr>
          <p:nvPr>
            <p:ph sz="half" idx="2"/>
          </p:nvPr>
        </p:nvSpPr>
        <p:spPr/>
        <p:txBody>
          <a:bodyPr/>
          <a:lstStyle/>
          <a:p>
            <a:r>
              <a:rPr lang="en-US" dirty="0"/>
              <a:t>Most salaries are concentrated between $50,000 and $150,000, with fewer employees earning above $200,000—indicating a right-skewed distribution.</a:t>
            </a:r>
            <a:endParaRPr lang="en-IN" dirty="0"/>
          </a:p>
        </p:txBody>
      </p:sp>
    </p:spTree>
    <p:extLst>
      <p:ext uri="{BB962C8B-B14F-4D97-AF65-F5344CB8AC3E}">
        <p14:creationId xmlns:p14="http://schemas.microsoft.com/office/powerpoint/2010/main" val="3965449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t>Average salary by experience level</a:t>
            </a:r>
            <a:endParaRPr lang="en-IN" cap="none" dirty="0"/>
          </a:p>
        </p:txBody>
      </p:sp>
      <p:pic>
        <p:nvPicPr>
          <p:cNvPr id="5" name="Content Placeholder 4"/>
          <p:cNvPicPr>
            <a:picLocks noGrp="1" noChangeAspect="1"/>
          </p:cNvPicPr>
          <p:nvPr>
            <p:ph sz="half" idx="1"/>
          </p:nvPr>
        </p:nvPicPr>
        <p:blipFill>
          <a:blip r:embed="rId2"/>
          <a:stretch>
            <a:fillRect/>
          </a:stretch>
        </p:blipFill>
        <p:spPr>
          <a:xfrm>
            <a:off x="1117600" y="1779535"/>
            <a:ext cx="6168571" cy="3735894"/>
          </a:xfrm>
          <a:prstGeom prst="rect">
            <a:avLst/>
          </a:prstGeom>
        </p:spPr>
      </p:pic>
      <p:sp>
        <p:nvSpPr>
          <p:cNvPr id="4" name="Content Placeholder 3"/>
          <p:cNvSpPr>
            <a:spLocks noGrp="1"/>
          </p:cNvSpPr>
          <p:nvPr>
            <p:ph sz="half" idx="2"/>
          </p:nvPr>
        </p:nvSpPr>
        <p:spPr>
          <a:xfrm>
            <a:off x="7489976" y="2487464"/>
            <a:ext cx="4702024" cy="2650593"/>
          </a:xfrm>
        </p:spPr>
        <p:txBody>
          <a:bodyPr/>
          <a:lstStyle/>
          <a:p>
            <a:pPr marL="0" indent="0">
              <a:buNone/>
            </a:pPr>
            <a:r>
              <a:rPr lang="en-US" dirty="0" smtClean="0"/>
              <a:t>Insights:</a:t>
            </a:r>
          </a:p>
          <a:p>
            <a:r>
              <a:rPr lang="en-US" dirty="0" smtClean="0"/>
              <a:t>Experienced professionals earn more package when compared to senior and mid level professionals.</a:t>
            </a:r>
            <a:endParaRPr lang="en-IN" dirty="0"/>
          </a:p>
        </p:txBody>
      </p:sp>
    </p:spTree>
    <p:extLst>
      <p:ext uri="{BB962C8B-B14F-4D97-AF65-F5344CB8AC3E}">
        <p14:creationId xmlns:p14="http://schemas.microsoft.com/office/powerpoint/2010/main" val="1056962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t>Average salary by employment type</a:t>
            </a:r>
            <a:endParaRPr lang="en-IN" cap="none" dirty="0"/>
          </a:p>
        </p:txBody>
      </p:sp>
      <p:pic>
        <p:nvPicPr>
          <p:cNvPr id="5" name="Content Placeholder 4"/>
          <p:cNvPicPr>
            <a:picLocks noGrp="1" noChangeAspect="1"/>
          </p:cNvPicPr>
          <p:nvPr>
            <p:ph sz="half" idx="1"/>
          </p:nvPr>
        </p:nvPicPr>
        <p:blipFill>
          <a:blip r:embed="rId2"/>
          <a:stretch>
            <a:fillRect/>
          </a:stretch>
        </p:blipFill>
        <p:spPr>
          <a:xfrm>
            <a:off x="914399" y="2220687"/>
            <a:ext cx="5817371" cy="3570514"/>
          </a:xfrm>
          <a:prstGeom prst="rect">
            <a:avLst/>
          </a:prstGeom>
        </p:spPr>
      </p:pic>
      <p:sp>
        <p:nvSpPr>
          <p:cNvPr id="4" name="Content Placeholder 3"/>
          <p:cNvSpPr>
            <a:spLocks noGrp="1"/>
          </p:cNvSpPr>
          <p:nvPr>
            <p:ph sz="half" idx="2"/>
          </p:nvPr>
        </p:nvSpPr>
        <p:spPr>
          <a:xfrm>
            <a:off x="6952703" y="2240722"/>
            <a:ext cx="5094154" cy="3702881"/>
          </a:xfrm>
        </p:spPr>
        <p:txBody>
          <a:bodyPr/>
          <a:lstStyle/>
          <a:p>
            <a:pPr marL="0" indent="0">
              <a:buNone/>
            </a:pPr>
            <a:r>
              <a:rPr lang="en-US" dirty="0" smtClean="0"/>
              <a:t>Insight</a:t>
            </a:r>
          </a:p>
          <a:p>
            <a:r>
              <a:rPr lang="en-US" dirty="0"/>
              <a:t>Full-time employees typically receive higher compensation and better benefits compared to part-time or contract workers due to longer working hours and greater job stability.</a:t>
            </a:r>
          </a:p>
        </p:txBody>
      </p:sp>
    </p:spTree>
    <p:extLst>
      <p:ext uri="{BB962C8B-B14F-4D97-AF65-F5344CB8AC3E}">
        <p14:creationId xmlns:p14="http://schemas.microsoft.com/office/powerpoint/2010/main" val="2732144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t>Top 10 average data science salaries by location</a:t>
            </a:r>
            <a:endParaRPr lang="en-IN" cap="none" dirty="0"/>
          </a:p>
        </p:txBody>
      </p:sp>
      <p:pic>
        <p:nvPicPr>
          <p:cNvPr id="5" name="Content Placeholder 4"/>
          <p:cNvPicPr>
            <a:picLocks noGrp="1" noChangeAspect="1"/>
          </p:cNvPicPr>
          <p:nvPr>
            <p:ph sz="half" idx="1"/>
          </p:nvPr>
        </p:nvPicPr>
        <p:blipFill>
          <a:blip r:embed="rId2"/>
          <a:stretch>
            <a:fillRect/>
          </a:stretch>
        </p:blipFill>
        <p:spPr>
          <a:xfrm>
            <a:off x="914400" y="2264229"/>
            <a:ext cx="5994400" cy="3515195"/>
          </a:xfrm>
          <a:prstGeom prst="rect">
            <a:avLst/>
          </a:prstGeom>
        </p:spPr>
      </p:pic>
      <p:sp>
        <p:nvSpPr>
          <p:cNvPr id="4" name="Content Placeholder 3"/>
          <p:cNvSpPr>
            <a:spLocks noGrp="1"/>
          </p:cNvSpPr>
          <p:nvPr>
            <p:ph sz="half" idx="2"/>
          </p:nvPr>
        </p:nvSpPr>
        <p:spPr>
          <a:xfrm>
            <a:off x="6908800" y="2170385"/>
            <a:ext cx="5094154" cy="3702881"/>
          </a:xfrm>
        </p:spPr>
        <p:txBody>
          <a:bodyPr/>
          <a:lstStyle/>
          <a:p>
            <a:r>
              <a:rPr lang="en-US" dirty="0" smtClean="0"/>
              <a:t>People in Russia and US  earn notably high salary</a:t>
            </a:r>
          </a:p>
          <a:p>
            <a:r>
              <a:rPr lang="en-US" dirty="0" smtClean="0"/>
              <a:t>Japan,New Zealand and Illinois have an average  salary range of 110000$ to 125000$</a:t>
            </a:r>
            <a:endParaRPr lang="en-IN" dirty="0"/>
          </a:p>
        </p:txBody>
      </p:sp>
    </p:spTree>
    <p:extLst>
      <p:ext uri="{BB962C8B-B14F-4D97-AF65-F5344CB8AC3E}">
        <p14:creationId xmlns:p14="http://schemas.microsoft.com/office/powerpoint/2010/main" val="704793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t>Salary Tend over company size</a:t>
            </a:r>
            <a:endParaRPr lang="en-IN" cap="none" dirty="0"/>
          </a:p>
        </p:txBody>
      </p:sp>
      <p:pic>
        <p:nvPicPr>
          <p:cNvPr id="5" name="Content Placeholder 4"/>
          <p:cNvPicPr>
            <a:picLocks noGrp="1" noChangeAspect="1"/>
          </p:cNvPicPr>
          <p:nvPr>
            <p:ph sz="half" idx="1"/>
          </p:nvPr>
        </p:nvPicPr>
        <p:blipFill>
          <a:blip r:embed="rId2"/>
          <a:stretch>
            <a:fillRect/>
          </a:stretch>
        </p:blipFill>
        <p:spPr>
          <a:xfrm>
            <a:off x="2395594" y="2087563"/>
            <a:ext cx="6224475" cy="3703637"/>
          </a:xfrm>
          <a:prstGeom prst="rect">
            <a:avLst/>
          </a:prstGeom>
        </p:spPr>
      </p:pic>
    </p:spTree>
    <p:extLst>
      <p:ext uri="{BB962C8B-B14F-4D97-AF65-F5344CB8AC3E}">
        <p14:creationId xmlns:p14="http://schemas.microsoft.com/office/powerpoint/2010/main" val="1749484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IN" dirty="0"/>
          </a:p>
        </p:txBody>
      </p:sp>
      <p:sp>
        <p:nvSpPr>
          <p:cNvPr id="6" name="Rectangle 2"/>
          <p:cNvSpPr>
            <a:spLocks noGrp="1" noChangeArrowheads="1"/>
          </p:cNvSpPr>
          <p:nvPr>
            <p:ph sz="half" idx="1"/>
          </p:nvPr>
        </p:nvSpPr>
        <p:spPr bwMode="auto">
          <a:xfrm>
            <a:off x="275771" y="2284756"/>
            <a:ext cx="12089969" cy="2806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b="1" i="0" u="none" strike="noStrike" cap="none" normalizeH="0" baseline="0" dirty="0" smtClean="0">
                <a:ln>
                  <a:noFill/>
                </a:ln>
                <a:solidFill>
                  <a:schemeClr val="tx1"/>
                </a:solidFill>
                <a:effectLst/>
              </a:rPr>
              <a:t>Experienced professionals</a:t>
            </a:r>
            <a:r>
              <a:rPr kumimoji="0" lang="en-US" b="0" i="0" u="none" strike="noStrike" cap="none" normalizeH="0" baseline="0" dirty="0" smtClean="0">
                <a:ln>
                  <a:noFill/>
                </a:ln>
                <a:solidFill>
                  <a:schemeClr val="tx1"/>
                </a:solidFill>
                <a:effectLst/>
              </a:rPr>
              <a:t> tend to earn more than mid- and senior-level employees.</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b="1" i="0" u="none" strike="noStrike" cap="none" normalizeH="0" baseline="0" dirty="0" smtClean="0">
                <a:ln>
                  <a:noFill/>
                </a:ln>
                <a:solidFill>
                  <a:schemeClr val="tx1"/>
                </a:solidFill>
                <a:effectLst/>
              </a:rPr>
              <a:t>Full-time Data Scientist roles</a:t>
            </a:r>
            <a:r>
              <a:rPr kumimoji="0" lang="en-US" b="0" i="0" u="none" strike="noStrike" cap="none" normalizeH="0" baseline="0" dirty="0" smtClean="0">
                <a:ln>
                  <a:noFill/>
                </a:ln>
                <a:solidFill>
                  <a:schemeClr val="tx1"/>
                </a:solidFill>
                <a:effectLst/>
              </a:rPr>
              <a:t> are growing and are among the </a:t>
            </a:r>
            <a:r>
              <a:rPr kumimoji="0" lang="en-US" b="1" i="0" u="none" strike="noStrike" cap="none" normalizeH="0" baseline="0" dirty="0" smtClean="0">
                <a:ln>
                  <a:noFill/>
                </a:ln>
                <a:solidFill>
                  <a:schemeClr val="tx1"/>
                </a:solidFill>
                <a:effectLst/>
              </a:rPr>
              <a:t>highest-paying jobs</a:t>
            </a:r>
            <a:r>
              <a:rPr kumimoji="0" lang="en-US" b="0" i="0" u="none" strike="noStrike" cap="none" normalizeH="0" baseline="0" dirty="0" smtClean="0">
                <a:ln>
                  <a:noFill/>
                </a:ln>
                <a:solidFill>
                  <a:schemeClr val="tx1"/>
                </a:solidFill>
                <a:effectLst/>
              </a:rPr>
              <a:t>.</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b="1" i="0" u="none" strike="noStrike" cap="none" normalizeH="0" baseline="0" dirty="0" smtClean="0">
                <a:ln>
                  <a:noFill/>
                </a:ln>
                <a:solidFill>
                  <a:schemeClr val="tx1"/>
                </a:solidFill>
                <a:effectLst/>
              </a:rPr>
              <a:t>Large companies</a:t>
            </a:r>
            <a:r>
              <a:rPr kumimoji="0" lang="en-US" b="0" i="0" u="none" strike="noStrike" cap="none" normalizeH="0" baseline="0" dirty="0" smtClean="0">
                <a:ln>
                  <a:noFill/>
                </a:ln>
                <a:solidFill>
                  <a:schemeClr val="tx1"/>
                </a:solidFill>
                <a:effectLst/>
              </a:rPr>
              <a:t> show stronger growth compared to medium and small firms.</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b="0" i="0" u="none" strike="noStrike" cap="none" normalizeH="0" baseline="0" dirty="0" smtClean="0">
                <a:ln>
                  <a:noFill/>
                </a:ln>
                <a:solidFill>
                  <a:schemeClr val="tx1"/>
                </a:solidFill>
                <a:effectLst/>
              </a:rPr>
              <a:t>Most professionals earn between </a:t>
            </a:r>
            <a:r>
              <a:rPr kumimoji="0" lang="en-US" b="1" i="0" u="none" strike="noStrike" cap="none" normalizeH="0" baseline="0" dirty="0" smtClean="0">
                <a:ln>
                  <a:noFill/>
                </a:ln>
                <a:solidFill>
                  <a:schemeClr val="tx1"/>
                </a:solidFill>
                <a:effectLst/>
              </a:rPr>
              <a:t>$50,000 and $150,000</a:t>
            </a:r>
            <a:r>
              <a:rPr kumimoji="0" lang="en-US" b="0" i="0" u="none" strike="noStrike" cap="none" normalizeH="0" baseline="0" dirty="0" smtClean="0">
                <a:ln>
                  <a:noFill/>
                </a:ln>
                <a:solidFill>
                  <a:schemeClr val="tx1"/>
                </a:solidFill>
                <a:effectLst/>
              </a:rPr>
              <a:t>.</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b="0" i="0" u="none" strike="noStrike" cap="none" normalizeH="0" baseline="0" dirty="0" smtClean="0">
                <a:ln>
                  <a:noFill/>
                </a:ln>
                <a:solidFill>
                  <a:schemeClr val="tx1"/>
                </a:solidFill>
                <a:effectLst/>
              </a:rPr>
              <a:t>Professionals in </a:t>
            </a:r>
            <a:r>
              <a:rPr kumimoji="0" lang="en-US" b="1" i="0" u="none" strike="noStrike" cap="none" normalizeH="0" baseline="0" dirty="0" smtClean="0">
                <a:ln>
                  <a:noFill/>
                </a:ln>
                <a:solidFill>
                  <a:schemeClr val="tx1"/>
                </a:solidFill>
                <a:effectLst/>
              </a:rPr>
              <a:t>Russia and the US</a:t>
            </a:r>
            <a:r>
              <a:rPr kumimoji="0" lang="en-US" b="0" i="0" u="none" strike="noStrike" cap="none" normalizeH="0" baseline="0" dirty="0" smtClean="0">
                <a:ln>
                  <a:noFill/>
                </a:ln>
                <a:solidFill>
                  <a:schemeClr val="tx1"/>
                </a:solidFill>
                <a:effectLst/>
              </a:rPr>
              <a:t> earn </a:t>
            </a:r>
            <a:r>
              <a:rPr kumimoji="0" lang="en-US" b="1" i="0" u="none" strike="noStrike" cap="none" normalizeH="0" baseline="0" dirty="0" smtClean="0">
                <a:ln>
                  <a:noFill/>
                </a:ln>
                <a:solidFill>
                  <a:schemeClr val="tx1"/>
                </a:solidFill>
                <a:effectLst/>
              </a:rPr>
              <a:t>notably high salaries</a:t>
            </a:r>
            <a:r>
              <a:rPr kumimoji="0" lang="en-US" b="0" i="0" u="none" strike="noStrike" cap="none" normalizeH="0" baseline="0" dirty="0" smtClean="0">
                <a:ln>
                  <a:noFill/>
                </a:ln>
                <a:solidFill>
                  <a:schemeClr val="tx1"/>
                </a:solidFill>
                <a:effectLst/>
              </a:rPr>
              <a:t>.</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b="1" i="0" u="none" strike="noStrike" cap="none" normalizeH="0" baseline="0" dirty="0" smtClean="0">
                <a:ln>
                  <a:noFill/>
                </a:ln>
                <a:solidFill>
                  <a:schemeClr val="tx1"/>
                </a:solidFill>
                <a:effectLst/>
              </a:rPr>
              <a:t>Japan, New Zealand, and Illinois</a:t>
            </a:r>
            <a:r>
              <a:rPr kumimoji="0" lang="en-US" b="0" i="0" u="none" strike="noStrike" cap="none" normalizeH="0" baseline="0" dirty="0" smtClean="0">
                <a:ln>
                  <a:noFill/>
                </a:ln>
                <a:solidFill>
                  <a:schemeClr val="tx1"/>
                </a:solidFill>
                <a:effectLst/>
              </a:rPr>
              <a:t> report average salaries ranging from </a:t>
            </a:r>
            <a:r>
              <a:rPr kumimoji="0" lang="en-US" b="1" i="0" u="none" strike="noStrike" cap="none" normalizeH="0" baseline="0" dirty="0" smtClean="0">
                <a:ln>
                  <a:noFill/>
                </a:ln>
                <a:solidFill>
                  <a:schemeClr val="tx1"/>
                </a:solidFill>
                <a:effectLst/>
              </a:rPr>
              <a:t>$110,000 to $125,000</a:t>
            </a:r>
            <a:r>
              <a:rPr kumimoji="0" lang="en-US" b="0" i="0" u="none" strike="noStrike" cap="none" normalizeH="0" baseline="0" dirty="0" smtClean="0">
                <a:ln>
                  <a:noFill/>
                </a:ln>
                <a:solidFill>
                  <a:schemeClr val="tx1"/>
                </a:solidFill>
                <a:effectLst/>
              </a:rPr>
              <a:t>.</a:t>
            </a:r>
          </a:p>
        </p:txBody>
      </p:sp>
    </p:spTree>
    <p:extLst>
      <p:ext uri="{BB962C8B-B14F-4D97-AF65-F5344CB8AC3E}">
        <p14:creationId xmlns:p14="http://schemas.microsoft.com/office/powerpoint/2010/main" val="2246420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24" y="2496458"/>
            <a:ext cx="10353761" cy="1326321"/>
          </a:xfrm>
        </p:spPr>
        <p:txBody>
          <a:bodyPr/>
          <a:lstStyle/>
          <a:p>
            <a:r>
              <a:rPr lang="en-US" dirty="0" smtClean="0"/>
              <a:t>Thank you</a:t>
            </a:r>
            <a:endParaRPr lang="en-IN" dirty="0"/>
          </a:p>
        </p:txBody>
      </p:sp>
    </p:spTree>
    <p:extLst>
      <p:ext uri="{BB962C8B-B14F-4D97-AF65-F5344CB8AC3E}">
        <p14:creationId xmlns:p14="http://schemas.microsoft.com/office/powerpoint/2010/main" val="23613240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2801</TotalTime>
  <Words>405</Words>
  <Application>Microsoft Office PowerPoint</Application>
  <PresentationFormat>Widescreen</PresentationFormat>
  <Paragraphs>41</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Bookman Old Style</vt:lpstr>
      <vt:lpstr>Rockwell</vt:lpstr>
      <vt:lpstr>Wingdings</vt:lpstr>
      <vt:lpstr>Damask</vt:lpstr>
      <vt:lpstr>Data_Science JOB_Salaries_Comparison</vt:lpstr>
      <vt:lpstr>Project Overview</vt:lpstr>
      <vt:lpstr>Data Exploration</vt:lpstr>
      <vt:lpstr>Data preprocessing</vt:lpstr>
      <vt:lpstr>Exploratory Data Analysis (EDA)</vt:lpstr>
      <vt:lpstr>Count of employees by experience level</vt:lpstr>
      <vt:lpstr>Top 10 Job titles</vt:lpstr>
      <vt:lpstr>Distribution of salaries</vt:lpstr>
      <vt:lpstr>Average salary by experience level</vt:lpstr>
      <vt:lpstr>Average salary by employment type</vt:lpstr>
      <vt:lpstr>Top 10 average data science salaries by location</vt:lpstr>
      <vt:lpstr>Salary Tend over company size</vt:lpstr>
      <vt:lpstr>conclusion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Data_Science JOB_Salaries_Comparison</dc:title>
  <dc:creator>HP</dc:creator>
  <cp:lastModifiedBy>HP</cp:lastModifiedBy>
  <cp:revision>25</cp:revision>
  <dcterms:created xsi:type="dcterms:W3CDTF">2025-05-14T17:32:10Z</dcterms:created>
  <dcterms:modified xsi:type="dcterms:W3CDTF">2025-05-16T17:10:08Z</dcterms:modified>
</cp:coreProperties>
</file>